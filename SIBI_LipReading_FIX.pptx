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95CC25-819A-4EBB-9982-656ACD3E078E}">
  <a:tblStyle styleId="{6595CC25-819A-4EBB-9982-656ACD3E07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4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57200" y="2560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Universitas Udayana  |  FMIPA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457200" y="640080"/>
            <a:ext cx="50292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Pembacaan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Gerak Bibir pada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Video SIBI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26568" y="2379017"/>
            <a:ext cx="50292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Menggunakan Optical Flow Conv-LSTM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57200" y="2985516"/>
            <a:ext cx="5029200" cy="36576"/>
          </a:xfrm>
          <a:prstGeom prst="rect">
            <a:avLst/>
          </a:prstGeom>
          <a:solidFill>
            <a:srgbClr val="AAB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457200" y="3182112"/>
            <a:ext cx="5029200" cy="760529"/>
          </a:xfrm>
          <a:prstGeom prst="roundRect">
            <a:avLst>
              <a:gd fmla="val 7778" name="adj"/>
            </a:avLst>
          </a:prstGeom>
          <a:solidFill>
            <a:srgbClr val="253D5E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26568" y="3306975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Nama: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 Made Wipra Ranum Ratnayu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26568" y="3489855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NIM: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2208561042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26568" y="3672735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Pembimbing: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Dewa Made Bayu Atmaja Darmawan, S.Kom., M.Cs.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26568" y="4160520"/>
            <a:ext cx="4754880" cy="726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PROGRAM STUDI INFORMATIKA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FAKULTAS MATEMATIKA DAN ILMU PENGETAHUAN ALAM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UNIVERSITAS UDAYANA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760720" y="411480"/>
            <a:ext cx="3108960" cy="1389888"/>
          </a:xfrm>
          <a:prstGeom prst="roundRect">
            <a:avLst>
              <a:gd fmla="val 6579" name="adj"/>
            </a:avLst>
          </a:prstGeom>
          <a:solidFill>
            <a:srgbClr val="253D5E"/>
          </a:solidFill>
          <a:ln cap="flat" cmpd="sng" w="1905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760720" y="557784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3.600 Video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760720" y="130759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760720" y="1965960"/>
            <a:ext cx="3108960" cy="1389888"/>
          </a:xfrm>
          <a:prstGeom prst="roundRect">
            <a:avLst>
              <a:gd fmla="val 6579" name="adj"/>
            </a:avLst>
          </a:prstGeom>
          <a:solidFill>
            <a:srgbClr val="253D5E"/>
          </a:solidFill>
          <a:ln cap="flat" cmpd="sng" w="1905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760720" y="2112264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18 Label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760720" y="286207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Kelas SIBI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760720" y="3520440"/>
            <a:ext cx="3108960" cy="1389888"/>
          </a:xfrm>
          <a:prstGeom prst="roundRect">
            <a:avLst>
              <a:gd fmla="val 6579" name="adj"/>
            </a:avLst>
          </a:prstGeom>
          <a:solidFill>
            <a:srgbClr val="253D5E"/>
          </a:solidFill>
          <a:ln cap="flat" cmpd="sng" w="1905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760720" y="3666744"/>
            <a:ext cx="3108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8E6D4"/>
                </a:solidFill>
                <a:latin typeface="Georgia"/>
                <a:ea typeface="Georgia"/>
                <a:cs typeface="Georgia"/>
                <a:sym typeface="Georgia"/>
              </a:rPr>
              <a:t>86,63%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760720" y="441655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Akurasi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Latar Belakang &amp; Motivasi Penelitian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11480" y="868680"/>
            <a:ext cx="8321040" cy="1572768"/>
          </a:xfrm>
          <a:prstGeom prst="roundRect">
            <a:avLst>
              <a:gd fmla="val 5814" name="adj"/>
            </a:avLst>
          </a:prstGeom>
          <a:solidFill>
            <a:srgbClr val="FAF8F3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11480" y="896112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7000"/>
              <a:buFont typeface="Georgia"/>
              <a:buNone/>
            </a:pPr>
            <a:r>
              <a:rPr b="1" lang="en-US" sz="70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17 ± 12%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14400" y="181051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Akurasi manusia terlatih dalam membaca gerak bibir untuk 30 kata tunggal tanpa suara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(Easton &amp; Basala, dalam Chen et al., 2020)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" y="2578608"/>
            <a:ext cx="2761488" cy="2395728"/>
          </a:xfrm>
          <a:prstGeom prst="roundRect">
            <a:avLst>
              <a:gd fmla="val 3435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48640" y="269748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Dataset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3090672"/>
            <a:ext cx="248716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Penelitian Aripin &amp; Setiawan (2024) mencapai 95,42%, namun tidak menggunakan kosakata SIBI yang sesungguhnya.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319272" y="2578608"/>
            <a:ext cx="2761488" cy="2395728"/>
          </a:xfrm>
          <a:prstGeom prst="roundRect">
            <a:avLst>
              <a:gd fmla="val 3435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456432" y="269748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Temporal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456432" y="2971096"/>
            <a:ext cx="248716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Ketergantungan penuh pada frame statis (RGB) tanpa mengekstraksi informasi gerak temporal (Optical Flow).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227064" y="2578608"/>
            <a:ext cx="2761488" cy="2395728"/>
          </a:xfrm>
          <a:prstGeom prst="roundRect">
            <a:avLst>
              <a:gd fmla="val 3435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364224" y="2697480"/>
            <a:ext cx="2487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Bahasa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364224" y="2939796"/>
            <a:ext cx="248716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Belum ada dataset yang menggabungkan alfabet, bilangan, dan kata dasar SIBI secara serentak.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Mengapa Optical Flow Conv-LSTM?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11480" y="914400"/>
            <a:ext cx="4846320" cy="3931920"/>
          </a:xfrm>
          <a:prstGeom prst="roundRect">
            <a:avLst>
              <a:gd fmla="val 2093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66928" y="1051560"/>
            <a:ext cx="4526280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Gerak bibir SIBI melibatkan perubahan bentuk bibir yang bersifat temporal. Model Conv-LSTM standar yang hanya menggunakan piksel RGB statis kurang mampu menangkap dinamika pergerakan antar-frame.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Optical Flow Lucas-Kanade menyediakan representasi eksplisit pergerakan tersebut, yang ketika dikombinasikan melalui AttentionFusion menghasilkan sistem yang lebih akurat dan robust.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577840" y="987552"/>
            <a:ext cx="3200400" cy="731520"/>
          </a:xfrm>
          <a:prstGeom prst="roundRect">
            <a:avLst>
              <a:gd fmla="val 10000" name="adj"/>
            </a:avLst>
          </a:prstGeom>
          <a:solidFill>
            <a:srgbClr val="DDE8F5"/>
          </a:solidFill>
          <a:ln cap="flat" cmpd="sng" w="1905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577840" y="987552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RGB Frame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[30, 96, 96, 3]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577840" y="173736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577840" y="1993392"/>
            <a:ext cx="3200400" cy="731520"/>
          </a:xfrm>
          <a:prstGeom prst="roundRect">
            <a:avLst>
              <a:gd fmla="val 10000" name="adj"/>
            </a:avLst>
          </a:prstGeom>
          <a:solidFill>
            <a:srgbClr val="FDF2EB"/>
          </a:solidFill>
          <a:ln cap="flat" cmpd="sng" w="19050">
            <a:solidFill>
              <a:srgbClr val="C8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577840" y="1993392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Optical Flow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[29, 96, 96, 3]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577840" y="274320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577840" y="2999232"/>
            <a:ext cx="3200400" cy="731520"/>
          </a:xfrm>
          <a:prstGeom prst="roundRect">
            <a:avLst>
              <a:gd fmla="val 10000" name="adj"/>
            </a:avLst>
          </a:prstGeom>
          <a:solidFill>
            <a:srgbClr val="EDF7F2"/>
          </a:solidFill>
          <a:ln cap="flat" cmpd="sng" w="1905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577840" y="2999232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AttentionFusion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g_rgb &amp; g_flow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577840" y="37490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577840" y="4005072"/>
            <a:ext cx="3200400" cy="731520"/>
          </a:xfrm>
          <a:prstGeom prst="roundRect">
            <a:avLst>
              <a:gd fmla="val 10000" name="adj"/>
            </a:avLst>
          </a:prstGeom>
          <a:solidFill>
            <a:srgbClr val="1B2B4B"/>
          </a:solidFill>
          <a:ln cap="flat" cmpd="sng" w="1905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577840" y="4005072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Prediksi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Kelas SIBI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577840" y="4892040"/>
            <a:ext cx="3200400" cy="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Rumusan Masalah, Batasan &amp; Tujuan Penelitian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65760" y="804672"/>
            <a:ext cx="8412480" cy="914400"/>
          </a:xfrm>
          <a:prstGeom prst="roundRect">
            <a:avLst>
              <a:gd fmla="val 900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30352" y="85953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Rumusan Masalah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30352" y="1133856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Bagaimana perbandingan hasil akurasi yang didapat dengan menggunakan model Conv-LSTM dan Optical Flow Conv-LSTM untuk mendeteksi gerakan bibir pada video SIBI?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65760" y="1828800"/>
            <a:ext cx="4754880" cy="2304288"/>
          </a:xfrm>
          <a:prstGeom prst="roundRect">
            <a:avLst>
              <a:gd fmla="val 3571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30352" y="19019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Batasan Masalah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02920" y="2231136"/>
            <a:ext cx="4480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Fokus pada gerak bibir SIBI (data dari guru SLB &amp; siswa tunarungu)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Input: dataset 18 label (</a:t>
            </a:r>
            <a:r>
              <a:rPr lang="en-US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alphabet</a:t>
            </a: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 a-f, angka 1-3 &amp; 8-10, kata buku/dia/saya/keliling/kelompok/sekarang)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Pembanding: Conv-LSTM tanpa Optical Flow sebagai baseline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Data direkam (tidak real-time), output berupa hasil akurasi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Evaluasi: akurasi, presisi, recall, F1-score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303520" y="1920240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303520" y="19202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943600" y="1828800"/>
            <a:ext cx="28346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080760" y="1892808"/>
            <a:ext cx="25786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Mengembangkan model komputasi pembacaan gerak bibir untuk bahasa SIBI yang efektif dan akurat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303520" y="2697480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5303520" y="26974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943600" y="2606040"/>
            <a:ext cx="28346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080760" y="2670048"/>
            <a:ext cx="25786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Membandingkan efektivitas Conv-LSTM vs Optical Flow Conv-LSTM untuk gerak bibir SIBI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303520" y="3474720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303520" y="347472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943600" y="3383280"/>
            <a:ext cx="283464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080760" y="3447288"/>
            <a:ext cx="257860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Menghasilkan rekomendasi pengembangan teknologi bantu bagi penyandang tunarungu di Indonesia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65760" y="4224528"/>
            <a:ext cx="8412480" cy="621792"/>
          </a:xfrm>
          <a:prstGeom prst="roundRect">
            <a:avLst>
              <a:gd fmla="val 10294" name="adj"/>
            </a:avLst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48640" y="4224528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Manfaat:  </a:t>
            </a:r>
            <a:r>
              <a:rPr lang="en-US" sz="11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Penyandang Tunarungu  |  Praktisi Teknologi  |  Peneliti &amp; Keilmuan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Lima Kontribusi Utama Penelitian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47472" y="822960"/>
            <a:ext cx="1572768" cy="413308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868680" y="987552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868680" y="9875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38912" y="1664208"/>
            <a:ext cx="13898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Dataset SIBI Gabungan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38912" y="2065137"/>
            <a:ext cx="13898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3.600 video dari 20 subjek (10 Guru SLB + 10 Siswa Tunarungu) mencakup alfabet, angka, dan kata dasar SIBI.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2039112" y="822960"/>
            <a:ext cx="1572768" cy="413308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2560320" y="987552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560320" y="9875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086410" y="1664208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Perbandingan Sistematis OFAT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152357" y="2065137"/>
            <a:ext cx="13898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Evaluasi terkontrol RGB Baseline vs Single-Stream Optical Flow vs Dual-Stream dengan metodologi OFAT.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730752" y="822960"/>
            <a:ext cx="1572768" cy="413308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251960" y="987552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251960" y="9875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822192" y="1664208"/>
            <a:ext cx="13898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Attention Fusion SIBI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843294" y="2007108"/>
            <a:ext cx="13898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Implementasi gate sigmoid adaptif (g_rgb, g_flow) yang belajar menentukan kontribusi optimal setiap stream.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22392" y="822960"/>
            <a:ext cx="1572768" cy="413308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5943600" y="987552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943600" y="9875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513832" y="1664208"/>
            <a:ext cx="13898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Temuan Counter-Intuitive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5819" y="2007108"/>
            <a:ext cx="13898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Bukti empiris bahwa Optical Flow tunggal gagal beroperasi secara independen — menurun 31,81% dari baseline.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114032" y="822960"/>
            <a:ext cx="1572768" cy="413308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635240" y="987552"/>
            <a:ext cx="530352" cy="530352"/>
          </a:xfrm>
          <a:prstGeom prst="ellipse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635240" y="98755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173942" y="1664208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Analisis Kompleksitas Suku Kata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219662" y="1869948"/>
            <a:ext cx="1389888" cy="2450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Evaluasi performa berdasarkan 1, 2, dan 3 suku kata — pemetaan pertama di konteks SIBI lip reading.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Dataset: 18 Kelas, Seimbang Sempurna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20040" y="822960"/>
            <a:ext cx="2304288" cy="4133088"/>
          </a:xfrm>
          <a:prstGeom prst="roundRect">
            <a:avLst>
              <a:gd fmla="val 3571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411480" y="896112"/>
            <a:ext cx="2121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1 Suku Kata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– Gerak Singkat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457200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481328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481328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457200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481328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481328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457200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481328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481328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743200" y="822960"/>
            <a:ext cx="2304288" cy="4133088"/>
          </a:xfrm>
          <a:prstGeom prst="roundRect">
            <a:avLst>
              <a:gd fmla="val 3571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2834640" y="896112"/>
            <a:ext cx="2121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2 Suku Kata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– Gerak Menengah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880360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880360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3904488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904488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880360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880360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904488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3904488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buku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880360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880360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904488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904488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saya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166360" y="822960"/>
            <a:ext cx="2304288" cy="4133088"/>
          </a:xfrm>
          <a:prstGeom prst="roundRect">
            <a:avLst>
              <a:gd fmla="val 3571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257800" y="896112"/>
            <a:ext cx="2121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3 Suku Kata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050"/>
              <a:buFont typeface="Georgia"/>
              <a:buNone/>
            </a:pPr>
            <a:r>
              <a:rPr b="1" lang="en-US" sz="105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– Gerak Kompleks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303520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303520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327648" y="1517904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327648" y="1517904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303520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303520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327648" y="2596896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327648" y="2596896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keliling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303520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303520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kelompok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327648" y="3675888"/>
            <a:ext cx="96012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327648" y="3675888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sekarang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635240" y="822960"/>
            <a:ext cx="1188720" cy="950976"/>
          </a:xfrm>
          <a:prstGeom prst="roundRect">
            <a:avLst>
              <a:gd fmla="val 6731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635240" y="86868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20 Orang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635240" y="128016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Subjek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635240" y="148132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(10 Guru SLB + 10 Siswa Tunarungu)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635240" y="1856232"/>
            <a:ext cx="1188720" cy="950976"/>
          </a:xfrm>
          <a:prstGeom prst="roundRect">
            <a:avLst>
              <a:gd fmla="val 6731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635240" y="190195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10x/label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635240" y="2313432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Rekaman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635240" y="2514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 subjek secara kronologis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635240" y="2889504"/>
            <a:ext cx="1188720" cy="950976"/>
          </a:xfrm>
          <a:prstGeom prst="roundRect">
            <a:avLst>
              <a:gd fmla="val 6731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635240" y="2935224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3.600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635240" y="3346704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635240" y="354787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1920×1080, 30 fps, MP4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635240" y="3922776"/>
            <a:ext cx="1188720" cy="950976"/>
          </a:xfrm>
          <a:prstGeom prst="roundRect">
            <a:avLst>
              <a:gd fmla="val 6731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635240" y="396849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70/20/10%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635240" y="4379976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Skema Split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635240" y="458114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Train/Val/Test (no data leakage)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Pipeline Preprocessing: Translasi Piksel ke Tensor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20040" y="822960"/>
            <a:ext cx="1572768" cy="4041648"/>
          </a:xfrm>
          <a:prstGeom prst="rect">
            <a:avLst/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320040" y="822960"/>
            <a:ext cx="1572768" cy="1298448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832104" y="932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832104" y="932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93192" y="151790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Frame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Extraction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11480" y="2148840"/>
            <a:ext cx="13898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Video 1920×1080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(30 fps) dipecah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menjadi sekuens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frame RGB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911096" y="2514600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039112" y="822960"/>
            <a:ext cx="1572768" cy="4041648"/>
          </a:xfrm>
          <a:prstGeom prst="rect">
            <a:avLst/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2039112" y="822960"/>
            <a:ext cx="1572768" cy="1298448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2551176" y="932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2551176" y="932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2112264" y="151790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Detection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2130552" y="2148840"/>
            <a:ext cx="13898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MediaPipe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FaceLandmarker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40 titik landmark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bibir (20 OUTER +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20 INNER)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+30% margin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bounding box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630168" y="2514600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758184" y="822960"/>
            <a:ext cx="1572768" cy="4041648"/>
          </a:xfrm>
          <a:prstGeom prst="rect">
            <a:avLst/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758184" y="822960"/>
            <a:ext cx="1572768" cy="1298448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270248" y="932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270248" y="932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831336" y="151790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Frame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Selection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849624" y="2148840"/>
            <a:ext cx="13898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30 frame terbaik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dipilih berdasarkan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motion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absolut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(thumbnail 32×32)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349240" y="2514600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477256" y="822960"/>
            <a:ext cx="1572768" cy="4041648"/>
          </a:xfrm>
          <a:prstGeom prst="rect">
            <a:avLst/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477256" y="822960"/>
            <a:ext cx="1572768" cy="1298448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989320" y="932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989320" y="932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5550408" y="151790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Crop &amp;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Resize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568696" y="2148840"/>
            <a:ext cx="13898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Area bibir di-crop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dan di-resize ke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96×96 piksel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Shape: [30, 96, 96, 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068312" y="2514600"/>
            <a:ext cx="1645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196328" y="822960"/>
            <a:ext cx="1572768" cy="4041648"/>
          </a:xfrm>
          <a:prstGeom prst="rect">
            <a:avLst/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196328" y="822960"/>
            <a:ext cx="1572768" cy="1298448"/>
          </a:xfrm>
          <a:prstGeom prst="rect">
            <a:avLst/>
          </a:prstGeom>
          <a:solidFill>
            <a:srgbClr val="1B2B4B"/>
          </a:solidFill>
          <a:ln cap="flat" cmpd="sng" w="127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7708392" y="932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7708392" y="932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269480" y="151790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Optical Flow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(LK P17)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287768" y="2148840"/>
            <a:ext cx="13898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Lucas-Kanade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Sparse → Dense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[29, 96, 96, 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(u, v, magnitude)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fmla="val 14286" name="adj"/>
            </a:avLst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457200" y="4617720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Hasil preprocessing: </a:t>
            </a:r>
            <a:r>
              <a:rPr lang="en-US" sz="95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100% sukses — 3.600 file .npy [30, 96, 96, 3] tanpa kegagalan deteksi  |  </a:t>
            </a: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Optical Flow: </a:t>
            </a:r>
            <a:r>
              <a:rPr lang="en-US" sz="95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3.600 file [29, 96, 96, 3] + normalisasi z-score global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/>
          <p:nvPr/>
        </p:nvSpPr>
        <p:spPr>
          <a:xfrm>
            <a:off x="365760" y="91440"/>
            <a:ext cx="84124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Tiga Varian Arsitektur: Menentukan Peran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Optical Flow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47472" y="1051560"/>
            <a:ext cx="2761488" cy="3886200"/>
          </a:xfrm>
          <a:prstGeom prst="roundRect">
            <a:avLst>
              <a:gd fmla="val 298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484632" y="1115568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1. Baseline Conv-LSTM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84632" y="1572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38912" y="1847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548640" y="1892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Frame Statis RGB [30, 96, 96,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84632" y="2715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Arsitektur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38912" y="2990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48640" y="3035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CNN Backbone: 3 blok konvolusi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(32→64→128 filter) →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GlobalAvgPool → ConvLSTM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M01: hidden (128, 64)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84632" y="3858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Fokus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38912" y="4133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48640" y="4178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Fokus pada tekstur &amp; bentuk visual bibir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55264" y="1051560"/>
            <a:ext cx="2761488" cy="3886200"/>
          </a:xfrm>
          <a:prstGeom prst="roundRect">
            <a:avLst>
              <a:gd fmla="val 298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392424" y="1115568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2. Single-Stream LK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392424" y="1572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346704" y="1847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456432" y="1892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Peta Gerak (Flow Only) [29, 96, 96,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392424" y="2715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Arsitektur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346704" y="2990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456432" y="3035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Arsitektur identik baseline namun input hanya optical flow (u, v, mag) normalisasi z-score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392424" y="3858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Fokus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346704" y="4133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3456432" y="4178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Hipotesis: gerak lebih informatif dari tekstur statis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163056" y="1051560"/>
            <a:ext cx="2761488" cy="3886200"/>
          </a:xfrm>
          <a:prstGeom prst="roundRect">
            <a:avLst>
              <a:gd fmla="val 298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300216" y="1115568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3. Dual-Stream AttentionFusion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300216" y="1572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254496" y="1847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364224" y="1892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RGB + Optical Flow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[30,96,96,3] + [29,96,96,3]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6300216" y="2715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Arsitektur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254496" y="2990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364224" y="3035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2× StreamEncoder paralel → vektor fitur 64-dim → AttentionFusion Gate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M02: hidden (128, 128)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300216" y="3858768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Fokus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254496" y="4133088"/>
            <a:ext cx="2578608" cy="804672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6364224" y="4178808"/>
            <a:ext cx="235915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Sintesis adaptif tekstur &amp; gerak via gate sigmoid (grgb, gflow)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Pemilihan Optical Flow: Lucas-Kanade Menang </a:t>
            </a:r>
            <a:r>
              <a:rPr b="1" lang="en-US" sz="24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+4,54%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Skenario 1: Farneback vs Lucas-Kanade (Dataset Number, 10 kelas)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11"/>
          <p:cNvGraphicFramePr/>
          <p:nvPr/>
        </p:nvGraphicFramePr>
        <p:xfrm>
          <a:off x="365760" y="1115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{6595CC25-819A-4EBB-9982-656ACD3E078E}</a:tableStyleId>
              </a:tblPr>
              <a:tblGrid>
                <a:gridCol w="384050"/>
                <a:gridCol w="1536200"/>
                <a:gridCol w="1234450"/>
                <a:gridCol w="1115575"/>
                <a:gridCol w="1627625"/>
                <a:gridCol w="1188725"/>
                <a:gridCol w="13258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Metode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Best Val Acc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Best Epoch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Test Acc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F1 Macro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</a:rPr>
                        <a:t>Waktu/Epoch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Farneback (Dense)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61,59%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80/100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57,73%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57,41%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~71 detik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A7A52"/>
                          </a:solidFill>
                        </a:rPr>
                        <a:t>Lucas-Kanade ✓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60,00%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96/100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A7A52"/>
                          </a:solidFill>
                        </a:rPr>
                        <a:t>62,27% (+4,54%)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61,15%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00000"/>
                          </a:solidFill>
                        </a:rPr>
                        <a:t>~77 detik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11"/>
          <p:cNvSpPr/>
          <p:nvPr/>
        </p:nvSpPr>
        <p:spPr>
          <a:xfrm>
            <a:off x="365760" y="208483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Konfigurasi Terpilih: Lucas-Kanade P17 (OFAT dari 18 konfigurasi)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65760" y="242316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75488" y="24963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maxCorners 300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75488" y="275234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Lebih banyak titik fitur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flow map lebih kaya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3182112" y="242316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3291840" y="24963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qualityLevel 0,005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291840" y="275234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Threshold kualitas rendah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→ deteksi area bibir halus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998464" y="242316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108192" y="249631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minDistance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6108192" y="275234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Jarak antar titik fitur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65760" y="324612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75488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blockSize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75488" y="3575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Estimasi gradien lebih stabil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182112" y="324612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291840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winSize 15×15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3291840" y="3575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Jendela pencarian aliran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998464" y="3246120"/>
            <a:ext cx="2697480" cy="713232"/>
          </a:xfrm>
          <a:prstGeom prst="roundRect">
            <a:avLst>
              <a:gd fmla="val 8974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6108192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maxLevel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108192" y="3575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Kedalaman piramida gambar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365760" y="4160520"/>
            <a:ext cx="8412480" cy="713232"/>
          </a:xfrm>
          <a:prstGeom prst="roundRect">
            <a:avLst>
              <a:gd fmla="val 8974" name="adj"/>
            </a:avLst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502920" y="416052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Hasil P17: Training Acc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62,05% </a:t>
            </a: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(tertinggi dari 18 config)  |  Test Acc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60,45%</a:t>
            </a: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  |  Temuan: turunkan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qualityLevel </a:t>
            </a: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0,01→0,005 (+gain), naikkan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blockSize </a:t>
            </a: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3→6, </a:t>
            </a: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maxCorners </a:t>
            </a:r>
            <a:r>
              <a:rPr lang="en-US" sz="1700">
                <a:solidFill>
                  <a:srgbClr val="C8E6D4"/>
                </a:solidFill>
                <a:latin typeface="Calibri"/>
                <a:ea typeface="Calibri"/>
                <a:cs typeface="Calibri"/>
                <a:sym typeface="Calibri"/>
              </a:rPr>
              <a:t>200→300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Hasil Baseline Conv-LSTM: Tekstur RGB Fondasi Kuat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365760" y="804672"/>
            <a:ext cx="3547872" cy="4133088"/>
          </a:xfrm>
          <a:prstGeom prst="roundRect">
            <a:avLst>
              <a:gd fmla="val 232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365760" y="896112"/>
            <a:ext cx="35478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83,06%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57200" y="2103120"/>
            <a:ext cx="3364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 Accuracy (Baseline M01)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548640" y="2523744"/>
            <a:ext cx="3182112" cy="18288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475488" y="259689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0,8074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75488" y="298094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 Loss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618488" y="259689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83,41%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618488" y="298094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2761488" y="259689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83,06%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761488" y="298094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75488" y="334670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82,96%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75488" y="37307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1618488" y="334670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48/100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1618488" y="37307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Best Epoch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2761488" y="334670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98,1 mnt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2761488" y="373075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Train Time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023360" y="804672"/>
            <a:ext cx="4800600" cy="2286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4160520" y="87782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Performa Per Kelas (Test Set)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1207008"/>
            <a:ext cx="48006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2"/>
          <p:cNvSpPr/>
          <p:nvPr/>
        </p:nvSpPr>
        <p:spPr>
          <a:xfrm>
            <a:off x="4023360" y="3182112"/>
            <a:ext cx="4800600" cy="1783080"/>
          </a:xfrm>
          <a:prstGeom prst="roundRect">
            <a:avLst>
              <a:gd fmla="val 4615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4160520" y="32461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Analisis Baseline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160520" y="3566160"/>
            <a:ext cx="45720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Model baseline mampu mengekstraksi fitur spasial-temporal RGB secara efektif. Konvergensi di epoch 48 mengindikasikan karakteristik RGB yang kaya informasi. Kelas 'saya' (F1=0,585) dan 'keliling' (F1=0,667) menjadi titik lemah karena kemiripan pola gerak bibir antar kelas dan variasi tinggi dari 20 subjek berbeda (10 guru + 10 siswa tunarungu).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0E8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Paradoks Single-Stream: Optical Flow Runtuh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Tanpa Konteks Visual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65760" y="1188720"/>
            <a:ext cx="4846320" cy="3547872"/>
          </a:xfrm>
          <a:prstGeom prst="roundRect">
            <a:avLst>
              <a:gd fmla="val 3093" name="adj"/>
            </a:avLst>
          </a:prstGeom>
          <a:solidFill>
            <a:srgbClr val="C8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530352" y="13167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5C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5D5C0"/>
                </a:solidFill>
                <a:latin typeface="Calibri"/>
                <a:ea typeface="Calibri"/>
                <a:cs typeface="Calibri"/>
                <a:sym typeface="Calibri"/>
              </a:rPr>
              <a:t>Crisis Metrics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65760" y="1600200"/>
            <a:ext cx="48463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Georgia"/>
              <a:buNone/>
            </a:pPr>
            <a:r>
              <a:rPr b="1" lang="en-US" sz="6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51,25%</a:t>
            </a:r>
            <a:endParaRPr sz="6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57200" y="2798064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Akurasi Uji Terjun Bebas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57200" y="314553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5C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5D5C0"/>
                </a:solidFill>
                <a:latin typeface="Calibri"/>
                <a:ea typeface="Calibri"/>
                <a:cs typeface="Calibri"/>
                <a:sym typeface="Calibri"/>
              </a:rPr>
              <a:t>Penurunan −31,81% dari baseline 83,06%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502920" y="3511296"/>
            <a:ext cx="4572000" cy="658368"/>
          </a:xfrm>
          <a:prstGeom prst="roundRect">
            <a:avLst>
              <a:gd fmla="val 9722" name="adj"/>
            </a:avLst>
          </a:prstGeom>
          <a:solidFill>
            <a:srgbClr val="B84D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3"/>
          <p:cNvSpPr/>
          <p:nvPr/>
        </p:nvSpPr>
        <p:spPr>
          <a:xfrm>
            <a:off x="640080" y="354787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Overfitting Ekstrem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40080" y="380390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5C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D5C0"/>
                </a:solidFill>
                <a:latin typeface="Calibri"/>
                <a:ea typeface="Calibri"/>
                <a:cs typeface="Calibri"/>
                <a:sym typeface="Calibri"/>
              </a:rPr>
              <a:t>Train Acc: 97,66%  |  Val Acc: 50,56%  |  Best Epoch: 66/100  |  Test Loss: 2,3354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376672" y="1188720"/>
            <a:ext cx="3429000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F5D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504688" y="128016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Akar Masalah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504688" y="14630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Peta optical flow area bibir memiliki kemiripan TINGGI antar kelas (c, d, e). Tanpa tekstur RGB sebagai jangkar, model tidak bisa membedakan bentuk mulut yang arahnya serupa.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376672" y="2999232"/>
            <a:ext cx="342900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F5D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5504688" y="309067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Kelas Terburuk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504688" y="3200400"/>
            <a:ext cx="32004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c: F1=0,071  |  d: F1=0,128  |  e: F1=0,350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Kelas "saya": F1=0,270 (gerak singkat)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Kelas terbaik 'b': F1=0,780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65760" y="4791456"/>
            <a:ext cx="8412480" cy="256032"/>
          </a:xfrm>
          <a:prstGeom prst="roundRect">
            <a:avLst>
              <a:gd fmla="val 17857" name="adj"/>
            </a:avLst>
          </a:prstGeom>
          <a:solidFill>
            <a:srgbClr val="F0E0D5"/>
          </a:solidFill>
          <a:ln cap="flat" cmpd="sng" w="12700">
            <a:solidFill>
              <a:srgbClr val="F5D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502920" y="4791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Bottleneck bukan di kapasitas arsitektur — menaikkan LSTM ke M02 hanya naik 2,23% (51,25%→53,48%). Masalah ada pada keterbatasan representasi Optical Flow itu sendiri ketika berdiri sendiri tanpa konteks visual.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4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Solusi: Mekanisme Dual-Stream AttentionFusion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365760" y="1078992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DDE8F5"/>
          </a:solidFill>
          <a:ln cap="flat" cmpd="sng" w="1905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365760" y="1078992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Stream RGB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[30,96,96,3]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801368" y="1353312"/>
            <a:ext cx="256032" cy="54864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2084832" y="932688"/>
            <a:ext cx="1417320" cy="896112"/>
          </a:xfrm>
          <a:prstGeom prst="roundRect">
            <a:avLst>
              <a:gd fmla="val 8163" name="adj"/>
            </a:avLst>
          </a:prstGeom>
          <a:solidFill>
            <a:srgbClr val="DDE8F5"/>
          </a:solidFill>
          <a:ln cap="flat" cmpd="sng" w="1905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2084832" y="932688"/>
            <a:ext cx="1417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StreamEncoder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RGB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→ f_rgb [64]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365760" y="201168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FDF2EB"/>
          </a:solidFill>
          <a:ln cap="flat" cmpd="sng" w="19050">
            <a:solidFill>
              <a:srgbClr val="C8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365760" y="201168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Stream 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[29,96,96,3]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801368" y="2286000"/>
            <a:ext cx="256032" cy="54864"/>
          </a:xfrm>
          <a:prstGeom prst="rect">
            <a:avLst/>
          </a:prstGeom>
          <a:solidFill>
            <a:srgbClr val="C8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2084832" y="1901952"/>
            <a:ext cx="1417320" cy="896112"/>
          </a:xfrm>
          <a:prstGeom prst="roundRect">
            <a:avLst>
              <a:gd fmla="val 8163" name="adj"/>
            </a:avLst>
          </a:prstGeom>
          <a:solidFill>
            <a:srgbClr val="FDF2EB"/>
          </a:solidFill>
          <a:ln cap="flat" cmpd="sng" w="19050">
            <a:solidFill>
              <a:srgbClr val="C85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2084832" y="1901952"/>
            <a:ext cx="14173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StreamEncoder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→ f_flow [64]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3520440" y="1353312"/>
            <a:ext cx="256032" cy="54864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>
            <a:off x="3520440" y="2286000"/>
            <a:ext cx="256032" cy="54864"/>
          </a:xfrm>
          <a:prstGeom prst="rect">
            <a:avLst/>
          </a:prstGeom>
          <a:solidFill>
            <a:srgbClr val="C85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>
            <a:off x="3803904" y="1078992"/>
            <a:ext cx="1920240" cy="1901952"/>
          </a:xfrm>
          <a:prstGeom prst="roundRect">
            <a:avLst>
              <a:gd fmla="val 4808" name="adj"/>
            </a:avLst>
          </a:prstGeom>
          <a:solidFill>
            <a:srgbClr val="1E3838"/>
          </a:solidFill>
          <a:ln cap="flat" cmpd="sng" w="25400">
            <a:solidFill>
              <a:srgbClr val="1B2B4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3840480" y="115214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lang="en-US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Attention Fusion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3895344" y="1527048"/>
            <a:ext cx="1737360" cy="18288"/>
          </a:xfrm>
          <a:prstGeom prst="rect">
            <a:avLst/>
          </a:prstGeom>
          <a:solidFill>
            <a:srgbClr val="4A6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3858768" y="1572768"/>
            <a:ext cx="181051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8E6D4"/>
                </a:solidFill>
                <a:latin typeface="Courier New"/>
                <a:ea typeface="Courier New"/>
                <a:cs typeface="Courier New"/>
                <a:sym typeface="Courier New"/>
              </a:rPr>
              <a:t>g_rgb = σ(W·concat)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8E6D4"/>
                </a:solidFill>
                <a:latin typeface="Courier New"/>
                <a:ea typeface="Courier New"/>
                <a:cs typeface="Courier New"/>
                <a:sym typeface="Courier New"/>
              </a:rPr>
              <a:t>g_flow = σ(W·concat)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8E6D4"/>
                </a:solidFill>
                <a:latin typeface="Courier New"/>
                <a:ea typeface="Courier New"/>
                <a:cs typeface="Courier New"/>
                <a:sym typeface="Courier New"/>
              </a:rPr>
              <a:t>f_fused = g_rgb⊙f_rgb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D4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8E6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+ g_flow⊙f_flow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742432" y="1993392"/>
            <a:ext cx="320040" cy="54864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6089904" y="1627632"/>
            <a:ext cx="1874520" cy="694944"/>
          </a:xfrm>
          <a:prstGeom prst="roundRect">
            <a:avLst>
              <a:gd fmla="val 9211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6144768" y="1664208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1B2B4B"/>
                </a:solidFill>
                <a:latin typeface="Courier New"/>
                <a:ea typeface="Courier New"/>
                <a:cs typeface="Courier New"/>
                <a:sym typeface="Courier New"/>
              </a:rPr>
              <a:t>f_fused = g_rgb⊙f_rgb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1B2B4B"/>
                </a:solidFill>
                <a:latin typeface="Courier New"/>
                <a:ea typeface="Courier New"/>
                <a:cs typeface="Courier New"/>
                <a:sym typeface="Courier New"/>
              </a:rPr>
              <a:t> + g_flow⊙f_flow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7982712" y="1920240"/>
            <a:ext cx="256032" cy="54864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8257032" y="1627632"/>
            <a:ext cx="685800" cy="694944"/>
          </a:xfrm>
          <a:prstGeom prst="roundRect">
            <a:avLst>
              <a:gd fmla="val 9333" name="adj"/>
            </a:avLst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8257032" y="1627632"/>
            <a:ext cx="6858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FC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Kelas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SIBI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365760" y="3200400"/>
            <a:ext cx="4224528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4"/>
          <p:cNvSpPr/>
          <p:nvPr/>
        </p:nvSpPr>
        <p:spPr>
          <a:xfrm>
            <a:off x="502920" y="3273552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Gate Adaptif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502920" y="3334043"/>
            <a:ext cx="39502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Nilai gate g_rgb dan g_flow berada di [0,1]. Keduanya dihitung dari vektor gabungan (concat) menggunakan bobot W yang dipelajari via backpropagation.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46320" y="3200400"/>
            <a:ext cx="4224528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4983480" y="3273552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C85A2A"/>
                </a:solidFill>
                <a:latin typeface="Georgia"/>
                <a:ea typeface="Georgia"/>
                <a:cs typeface="Georgia"/>
                <a:sym typeface="Georgia"/>
              </a:rPr>
              <a:t>Kompensasi Otomatis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4983480" y="3304501"/>
            <a:ext cx="39502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Jika kualitas optical flow buruk (gerakan singkat 1 suku kata), model otomatis meningkatkan g_rgb → lebih mengandalkan informasi tekstur RGB.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502920" y="4569538"/>
            <a:ext cx="8412480" cy="338328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 cap="flat" cmpd="sng" w="19050">
            <a:solidFill>
              <a:srgbClr val="2A7A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40080" y="4569538"/>
            <a:ext cx="82296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Hasil Sinergi: </a:t>
            </a: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Konfigurasi P17+M02 menghasilkan Test Accuracy </a:t>
            </a:r>
            <a:r>
              <a:rPr b="1"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86,63% </a:t>
            </a: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(F1 86,60%), melampaui baseline </a:t>
            </a:r>
            <a:r>
              <a:rPr b="1" lang="en-US" sz="110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+3,57%</a:t>
            </a: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 dan single-stream </a:t>
            </a:r>
            <a:r>
              <a:rPr b="1" lang="en-US" sz="110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+35,38%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7F2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Hasil Dual-Stream P17+M02: Konfigurasi Terbaik 86,63%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320040" y="914400"/>
            <a:ext cx="3401568" cy="4041648"/>
          </a:xfrm>
          <a:prstGeom prst="roundRect">
            <a:avLst>
              <a:gd fmla="val 2419" name="adj"/>
            </a:avLst>
          </a:prstGeom>
          <a:solidFill>
            <a:srgbClr val="FFFFFF"/>
          </a:solidFill>
          <a:ln cap="flat" cmpd="sng" w="12700">
            <a:solidFill>
              <a:srgbClr val="C8E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457200" y="98755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Hero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320040" y="1261872"/>
            <a:ext cx="340156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4600"/>
              <a:buFont typeface="Georgia"/>
              <a:buNone/>
            </a:pPr>
            <a:r>
              <a:rPr b="1" lang="en-US" sz="4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86,63%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320040" y="2130552"/>
            <a:ext cx="34015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502920" y="2468880"/>
            <a:ext cx="3035808" cy="18288"/>
          </a:xfrm>
          <a:prstGeom prst="rect">
            <a:avLst/>
          </a:prstGeom>
          <a:solidFill>
            <a:srgbClr val="C8E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457200" y="25420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86,60%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737360" y="25420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F1-score (weighted)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457200" y="2871216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86,61%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737360" y="287121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F1-score (macro)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57200" y="320040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86,85%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737360" y="320040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Precision (macro)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57200" y="35295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86,63%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1737360" y="352958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Recall (macro)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57200" y="385876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87,22%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737360" y="38587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Val Accuracy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57200" y="418795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83/100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1737360" y="41879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Epoch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457200" y="4517136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7A52"/>
              </a:buClr>
              <a:buSzPts val="1200"/>
              <a:buFont typeface="Georgia"/>
              <a:buNone/>
            </a:pPr>
            <a:r>
              <a:rPr b="1" lang="en-US" sz="1200">
                <a:solidFill>
                  <a:srgbClr val="2A7A52"/>
                </a:solidFill>
                <a:latin typeface="Georgia"/>
                <a:ea typeface="Georgia"/>
                <a:cs typeface="Georgia"/>
                <a:sym typeface="Georgia"/>
              </a:rPr>
              <a:t>225,4 mnt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1737360" y="45171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Waktu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3858768" y="914400"/>
            <a:ext cx="4965192" cy="4041648"/>
          </a:xfrm>
          <a:prstGeom prst="roundRect">
            <a:avLst>
              <a:gd fmla="val 2036" name="adj"/>
            </a:avLst>
          </a:prstGeom>
          <a:solidFill>
            <a:srgbClr val="FFFFFF"/>
          </a:solidFill>
          <a:ln cap="flat" cmpd="sng" w="12700">
            <a:solidFill>
              <a:srgbClr val="C8E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3977640" y="987552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Peningkatan Per Kelas (Baseline → Dual P17+M02)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8768" y="1261872"/>
            <a:ext cx="4965192" cy="309067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5"/>
          <p:cNvSpPr/>
          <p:nvPr/>
        </p:nvSpPr>
        <p:spPr>
          <a:xfrm>
            <a:off x="320040" y="4809744"/>
            <a:ext cx="8503920" cy="256032"/>
          </a:xfrm>
          <a:prstGeom prst="roundRect">
            <a:avLst>
              <a:gd fmla="val 2419" name="adj"/>
            </a:avLst>
          </a:prstGeom>
          <a:solidFill>
            <a:srgbClr val="C4E0B2"/>
          </a:solidFill>
          <a:ln cap="flat" cmpd="sng" w="12700">
            <a:solidFill>
              <a:srgbClr val="C8E6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418514" y="4804117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Peningkatan keseluruhan dari baseline: </a:t>
            </a:r>
            <a:r>
              <a:rPr b="1" lang="en-US" sz="1200">
                <a:solidFill>
                  <a:srgbClr val="2A7A52"/>
                </a:solidFill>
                <a:latin typeface="Calibri"/>
                <a:ea typeface="Calibri"/>
                <a:cs typeface="Calibri"/>
                <a:sym typeface="Calibri"/>
              </a:rPr>
              <a:t>+3,57%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 |  Epoch lebih lama (83 vs 48) wajar — mengkoordinasikan 2 stream input sekaligus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Matriks Diagnostik: Perbandingan Tiga Arsitektur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16"/>
          <p:cNvGraphicFramePr/>
          <p:nvPr/>
        </p:nvGraphicFramePr>
        <p:xfrm>
          <a:off x="36576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{6595CC25-819A-4EBB-9982-656ACD3E078E}</a:tableStyleId>
              </a:tblPr>
              <a:tblGrid>
                <a:gridCol w="1600200"/>
                <a:gridCol w="2194550"/>
                <a:gridCol w="2194550"/>
                <a:gridCol w="24231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Aspek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Baseline Conv-LSTM (RGB)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Single-Stream (Flow)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Dual-Stream P17+M02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Fokus Fitur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Tekstur &amp; Bentuk Statis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Dinamika Gerak Vektor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Konteks + Gerak Adaptif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Input Shape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[30, 96, 96, 3] RGB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[29, 96, 96, 3] Flow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RGB + Flow (paralel)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Arsitektur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M01 (LSTM 128, 64)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M02 (LSTM 128, 128)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M02 × 2 StreamEncoder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Test Accuracy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83,06%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A2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85A2A"/>
                          </a:solidFill>
                        </a:rPr>
                        <a:t>51,25% (↓31,81%)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7A52"/>
                          </a:solidFill>
                        </a:rPr>
                        <a:t>86,63% (↑3,57%)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7F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F1-score (w)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82,96%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A2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85A2A"/>
                          </a:solidFill>
                        </a:rPr>
                        <a:t>50,47%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7A52"/>
                          </a:solidFill>
                        </a:rPr>
                        <a:t>86,60%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Val Accuracy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84,58%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52,08%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A7A52"/>
                          </a:solidFill>
                        </a:rPr>
                        <a:t>87,22%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Best Epoch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48/100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66/100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83/100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Waktu Training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98,1 mnt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95,1 mnt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225,4 mnt (2× lipat)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Titik Lemah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Kurang tanggap temporal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A2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85A2A"/>
                          </a:solidFill>
                        </a:rPr>
                        <a:t>Hancur di kelas c, d (F1&lt;0,13)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Waktu inferensi lebih lama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7"/>
          <p:cNvSpPr/>
          <p:nvPr/>
        </p:nvSpPr>
        <p:spPr>
          <a:xfrm>
            <a:off x="365760" y="73152"/>
            <a:ext cx="547936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Analisis Kompleksitas Suku Kata: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Konsistensi Performa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65760" y="1051560"/>
            <a:ext cx="4663440" cy="1143000"/>
          </a:xfrm>
          <a:prstGeom prst="roundRect">
            <a:avLst>
              <a:gd fmla="val 720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502920" y="1143000"/>
            <a:ext cx="44074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Paradoks 1 Suku Kata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02920" y="1490472"/>
            <a:ext cx="4407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Single-Stream hanya 41,67% — gerak bibir sangat singkat sehingga perbedaan antar-frame hampir tidak ada untuk Optical Flow.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365760" y="2313432"/>
            <a:ext cx="4663440" cy="1143000"/>
          </a:xfrm>
          <a:prstGeom prst="roundRect">
            <a:avLst>
              <a:gd fmla="val 720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502920" y="2404872"/>
            <a:ext cx="44074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Kekuatan 3 Suku Kata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502920" y="2752344"/>
            <a:ext cx="4407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Single-Stream 64,60% — gerakan yang lebih panjang dan distinktif lebih mudah ditangkap Optical Flow.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365760" y="3575304"/>
            <a:ext cx="4663440" cy="1143000"/>
          </a:xfrm>
          <a:prstGeom prst="roundRect">
            <a:avLst>
              <a:gd fmla="val 7200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502920" y="3666744"/>
            <a:ext cx="44074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Dominasi Dual-Stream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02920" y="4014216"/>
            <a:ext cx="4407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Unggul merata di semua kelompok. Peningkatan terbesar pada 2 suku kata: +7,50% dari baseline.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p17"/>
          <p:cNvGraphicFramePr/>
          <p:nvPr/>
        </p:nvGraphicFramePr>
        <p:xfrm>
          <a:off x="5193792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{6595CC25-819A-4EBB-9982-656ACD3E078E}</a:tableStyleId>
              </a:tblPr>
              <a:tblGrid>
                <a:gridCol w="1261875"/>
                <a:gridCol w="804675"/>
                <a:gridCol w="804675"/>
                <a:gridCol w="786375"/>
              </a:tblGrid>
              <a:tr h="8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Suku Kata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Single-Stream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Dual P17+M02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B4B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 suku kata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(a-f)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86,67%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A2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85A2A"/>
                          </a:solidFill>
                        </a:rPr>
                        <a:t>41,67%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A7A52"/>
                          </a:solidFill>
                        </a:rPr>
                        <a:t>89,17%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2 suku kata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(1-3, kata)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80,00%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47,50%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A7A52"/>
                          </a:solidFill>
                        </a:rPr>
                        <a:t>87,50%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3 suku kata</a:t>
                      </a:r>
                      <a:endParaRPr sz="12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(8-10, kata)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82,50%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64,60%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A7A52"/>
                          </a:solidFill>
                        </a:rPr>
                        <a:t>86,28%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3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Rata-rata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</a:rPr>
                        <a:t>83,06%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5A2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85A2A"/>
                          </a:solidFill>
                        </a:rPr>
                        <a:t>51,25%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7A5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A7A52"/>
                          </a:solidFill>
                        </a:rPr>
                        <a:t>86,63%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5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8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Keterbatasan Penelitian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365760" y="822960"/>
            <a:ext cx="4279392" cy="1024128"/>
          </a:xfrm>
          <a:prstGeom prst="roundRect">
            <a:avLst>
              <a:gd fmla="val 8036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457200" y="914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1207008" y="914400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Batasan Generalisasi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1207008" y="1243584"/>
            <a:ext cx="3310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Evaluasi bersifat Subject-Dependent: akurat untuk 20 subjek latih, namun belum teruji pada individu baru di luar dataset.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828032" y="822960"/>
            <a:ext cx="4279392" cy="1024128"/>
          </a:xfrm>
          <a:prstGeom prst="roundRect">
            <a:avLst>
              <a:gd fmla="val 8036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4919472" y="9144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5669280" y="914400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Batasan Kosakata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669280" y="1243584"/>
            <a:ext cx="3310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Terbatas 18 label fondasi. Belum merepresentasikan ribuan leksikon kamus SIBI secara menyeluruh.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365760" y="1938528"/>
            <a:ext cx="4279392" cy="1024128"/>
          </a:xfrm>
          <a:prstGeom prst="roundRect">
            <a:avLst>
              <a:gd fmla="val 8036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8"/>
          <p:cNvSpPr/>
          <p:nvPr/>
        </p:nvSpPr>
        <p:spPr>
          <a:xfrm>
            <a:off x="457200" y="202996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1207008" y="2029968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Beban Inferensi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1207008" y="2359152"/>
            <a:ext cx="3310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Waktu komputasi Dual-Stream 116–117 detik/epoch (≈2× single-stream). Tidak cocok untuk real-time tanpa optimasi.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4828032" y="1938528"/>
            <a:ext cx="4279392" cy="1024128"/>
          </a:xfrm>
          <a:prstGeom prst="roundRect">
            <a:avLst>
              <a:gd fmla="val 8036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4919472" y="202996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5A2A"/>
              </a:buClr>
              <a:buSzPts val="2600"/>
              <a:buFont typeface="Calibri"/>
              <a:buNone/>
            </a:pPr>
            <a:r>
              <a:rPr lang="en-US" sz="2600">
                <a:solidFill>
                  <a:srgbClr val="C85A2A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5669280" y="2029968"/>
            <a:ext cx="3310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1B2B4B"/>
                </a:solidFill>
                <a:latin typeface="Georgia"/>
                <a:ea typeface="Georgia"/>
                <a:cs typeface="Georgia"/>
                <a:sym typeface="Georgia"/>
              </a:rPr>
              <a:t>Bottleneck Perangkat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5669280" y="2359152"/>
            <a:ext cx="3310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Arsitektur Conv-LSTM masih terlalu berat untuk deployment real-time di perangkat mobile tanpa model kompresi.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365760" y="3163824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438912" y="322783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4A6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438912" y="32278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822960" y="3163824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Mengapa tidak pakai Transformer?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365760" y="3657600"/>
            <a:ext cx="2743200" cy="1444752"/>
          </a:xfrm>
          <a:prstGeom prst="roundRect">
            <a:avLst>
              <a:gd fmla="val 3797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438912" y="373075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438912" y="3730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822960" y="3675888"/>
            <a:ext cx="221284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Dengan hanya 2.520 sampel latih, Conv-LSTM lebih stabil mencegah overfitting pada tugas spasial-temporal ini. Transformer butuh data jauh lebih besar.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3273552" y="3163824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3346704" y="322783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4A6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3346704" y="32278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3730752" y="3163824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Mengapa tidak pakai Data Augmentation?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3273552" y="3657600"/>
            <a:ext cx="2743200" cy="1444752"/>
          </a:xfrm>
          <a:prstGeom prst="roundRect">
            <a:avLst>
              <a:gd fmla="val 3797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3346704" y="373075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8"/>
          <p:cNvSpPr/>
          <p:nvPr/>
        </p:nvSpPr>
        <p:spPr>
          <a:xfrm>
            <a:off x="3346704" y="3730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3730752" y="3675888"/>
            <a:ext cx="221284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Menjaga kemurnian eksperimen terkontrol. Augmentasi video bibir sering menciptakan artefak gerak tidak natural yang merusak makna semantik.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6181344" y="3163824"/>
            <a:ext cx="2743200" cy="438912"/>
          </a:xfrm>
          <a:prstGeom prst="roundRect">
            <a:avLst>
              <a:gd fmla="val 12500" name="adj"/>
            </a:avLst>
          </a:prstGeom>
          <a:solidFill>
            <a:srgbClr val="1B2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6254496" y="322783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4A6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6254496" y="322783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638544" y="3163824"/>
            <a:ext cx="223113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Apakah 86,63% siap untuk dunia nyata?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6181344" y="3657600"/>
            <a:ext cx="2743200" cy="1444752"/>
          </a:xfrm>
          <a:prstGeom prst="roundRect">
            <a:avLst>
              <a:gd fmla="val 3797" name="adj"/>
            </a:avLst>
          </a:prstGeom>
          <a:solidFill>
            <a:srgbClr val="EDE8E0"/>
          </a:solidFill>
          <a:ln cap="flat" cmpd="sng" w="12700">
            <a:solidFill>
              <a:srgbClr val="DDD5C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6254496" y="3730752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8"/>
          <p:cNvSpPr/>
          <p:nvPr/>
        </p:nvSpPr>
        <p:spPr>
          <a:xfrm>
            <a:off x="6254496" y="37307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6638544" y="3675888"/>
            <a:ext cx="2212848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B2B4B"/>
                </a:solidFill>
                <a:latin typeface="Calibri"/>
                <a:ea typeface="Calibri"/>
                <a:cs typeface="Calibri"/>
                <a:sym typeface="Calibri"/>
              </a:rPr>
              <a:t>Belum. Ini adalah baseline akademis pertama. Implementasi nyata butuh akurasi &gt;90% dan ketahanan pada pengujian subject-independent.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B4B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"/>
          <p:cNvSpPr/>
          <p:nvPr/>
        </p:nvSpPr>
        <p:spPr>
          <a:xfrm>
            <a:off x="457200" y="137160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Kesimpulan &amp; Rekomendasi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2A7A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84048" y="886968"/>
            <a:ext cx="512064" cy="512064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384048" y="8869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969264" y="886968"/>
            <a:ext cx="3950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Conv-LSTM RGB</a:t>
            </a: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 mencapai 83,06% test accuracy (F1 82,96%) — membuktikan Conv-LSTM mampu mengekstraksi fitur spasial-temporal bibir secara efektif.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384048" y="1691640"/>
            <a:ext cx="512064" cy="512064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384048" y="16916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969264" y="1691640"/>
            <a:ext cx="3950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Single-Stream Optical Flow</a:t>
            </a: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 hanya 51,25% — optical flow tidak bisa menggantikan RGB; ia membutuhkan konteks visual sebagai jangkar semantik.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384048" y="2496312"/>
            <a:ext cx="512064" cy="512064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"/>
          <p:cNvSpPr/>
          <p:nvPr/>
        </p:nvSpPr>
        <p:spPr>
          <a:xfrm>
            <a:off x="384048" y="24963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969264" y="2496312"/>
            <a:ext cx="3950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Dual-Stream P17+M02</a:t>
            </a: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 mencapai 86,63% (F1 86,60%) — melampaui baseline +3,57% dengan AttentionFusion yang belajar menyeimbangkan kedua modalitas.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384048" y="3300984"/>
            <a:ext cx="512064" cy="512064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384048" y="330098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969264" y="3300984"/>
            <a:ext cx="3950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Kualitas parameter LK P17 (+1,90%)</a:t>
            </a: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 lebih determinan dari kapasitas arsitektur M02 (+0,56%) — representasi input lebih kritis dari ukuran model.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84048" y="4105656"/>
            <a:ext cx="512064" cy="512064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384048" y="41056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969264" y="4105656"/>
            <a:ext cx="3950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Dual-Stream</a:t>
            </a: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 unggul merata di semua suku kata: 89,17% (1 suku), 87,50% (2 suku), 86,28% (3 suku) — konsistensi menyeluruh.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166360" y="8229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Rekomendasi Pengembangan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5166360" y="1261872"/>
            <a:ext cx="3749040" cy="1170432"/>
          </a:xfrm>
          <a:prstGeom prst="roundRect">
            <a:avLst>
              <a:gd fmla="val 7813" name="adj"/>
            </a:avLst>
          </a:prstGeom>
          <a:solidFill>
            <a:srgbClr val="253D5E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5321808" y="133502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Langkah 1: Skala &amp; Generalisasi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5321808" y="1581912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Perluasan kelas SIBI + validasi Subject-Independent pada individu baru di luar dataset.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5166360" y="2542032"/>
            <a:ext cx="3749040" cy="1170432"/>
          </a:xfrm>
          <a:prstGeom prst="roundRect">
            <a:avLst>
              <a:gd fmla="val 7813" name="adj"/>
            </a:avLst>
          </a:prstGeom>
          <a:solidFill>
            <a:srgbClr val="253D5E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5321808" y="261518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Langkah 2: Augmentasi Realistis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5321808" y="2862072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Eksplorasi variasi temporal tanpa merusak semantik gerak bibir SIBI.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5166360" y="3822192"/>
            <a:ext cx="3749040" cy="1170432"/>
          </a:xfrm>
          <a:prstGeom prst="roundRect">
            <a:avLst>
              <a:gd fmla="val 7813" name="adj"/>
            </a:avLst>
          </a:prstGeom>
          <a:solidFill>
            <a:srgbClr val="253D5E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9"/>
          <p:cNvSpPr/>
          <p:nvPr/>
        </p:nvSpPr>
        <p:spPr>
          <a:xfrm>
            <a:off x="5321808" y="38953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Langkah 3: Migrasi Mobile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5321808" y="4224528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Ganti backbone Conv-LSTM dengan MobileNet ringan untuk inferensi real-time di perangkat tunarungu.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